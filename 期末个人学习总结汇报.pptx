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6" r:id="rId5"/>
    <p:sldId id="267" r:id="rId6"/>
    <p:sldId id="270" r:id="rId7"/>
    <p:sldId id="276" r:id="rId8"/>
    <p:sldId id="277" r:id="rId9"/>
    <p:sldId id="278" r:id="rId10"/>
    <p:sldId id="283" r:id="rId11"/>
    <p:sldId id="284" r:id="rId12"/>
    <p:sldId id="291" r:id="rId13"/>
    <p:sldId id="292" r:id="rId14"/>
    <p:sldId id="293" r:id="rId15"/>
    <p:sldId id="28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4"/>
  </p:normalViewPr>
  <p:slideViewPr>
    <p:cSldViewPr snapToGrid="0">
      <p:cViewPr varScale="1">
        <p:scale>
          <a:sx n="68" d="100"/>
          <a:sy n="68" d="100"/>
        </p:scale>
        <p:origin x="3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D1C8FA-4E74-3C2B-B2E1-90179EE0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6F5C-20E8-D5B3-4B51-E00FBADC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A3150-268E-E144-EB8E-C83266A4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75F-A225-D342-874D-7AF26BF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61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.xml.png" type="slideLayout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F4FD-E8D7-1C42-14C4-121EA09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3D1D-7811-D79C-3E26-008C6266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FEE4B-101F-62CC-E69D-F081B97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2.xml.png" type="slideLayout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9279D-06F0-EFDE-9CD6-193A29D3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CCE7-DC65-DA1D-3E8E-70130CD6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4EE2-CD7D-A99C-E5D2-1366E53C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2B1E2-E5C3-92D1-FF78-B950DDC1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22510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3.xml.png" type="slideLayout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7D338-6AC5-3B05-1915-B1578DB8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E3BF0-2279-8BF3-1C0E-03C9E7BF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8EC9A-56DC-2B36-BF93-CCB1A8E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D304B-FAC1-533F-1456-38E73C2A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F4D4A-E839-BFE4-78EA-559F4A5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786054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4.xml.png" type="slideLayout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501C3-38EB-2364-C39C-33279253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EC63D-4589-C043-285B-B8127689F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810A47-0A22-AB30-2FCE-43F3C972A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8C72C7-7B09-FD2C-30C5-4350039B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57867-163A-9E7A-AE92-DDB0D8E1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928ED-F638-2A81-FAF0-17D14FCA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5BCCDA-B30D-A94D-59C6-47F63025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0130515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5.xml.png" type="slideLayout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FF8EF7-C3FC-15DF-EB99-F3AFA6C5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A37BA3-FB71-5172-B46A-25DF8DB9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FED2D-6DE6-4528-CEC4-A1B11500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8146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6.xml.png" type="slideLayout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BDD16-6439-B908-EDD7-E328E0D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04F1C-1C5E-FF25-BFF4-A2FD0C4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5C0E4-D1F8-57FC-808D-20A6FC4D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038035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7.xml.png" type="slideLayout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4B274-03F4-DFA5-61F7-9E8E0AC9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C8FF-DC28-5C76-6936-568A1EF2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2A2AA-F26F-56C5-60C1-F265434C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9CC6C-B836-7CF1-8B26-F26AD14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34698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8.xml.png" type="slideLayout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A8308-143D-B013-FA6D-13A508B2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9730FC-073C-5B6F-22E8-FA4523B5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07D1-71A0-CD5F-5290-4EB94B79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71ABE-DCFA-3F63-9336-9EBAF490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86D08-7017-BD7F-109B-79A0EF20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326504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9.xml.png" type="slideLayout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CB66B5-34D0-BDE9-5932-0E416504F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9B6BF-E627-7250-3EDA-1287E111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CADA8-4560-F141-7ED6-BD570DF7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0A53-D30B-FB19-DA4E-56FFB4B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21733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0.xml.png" type="slideLayout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0F4DD-F736-F394-947B-5741BD745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099BE-C301-7614-65DF-46D9E84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36390-1E46-C21F-75CD-E31A783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A1DA6-C2F0-C179-3F42-8D6667B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19AC8-8FAF-9013-7FB4-18456D33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299543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1.xml.png" type="slideLayout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A3692-2AD9-CE6F-D53F-7845B9B3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1CEA3-90BC-60A3-2BF0-EFFB67E7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96AE0-833D-16AA-C61D-4401D75F8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BC43C-0D70-FA29-5981-9056C9645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48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3684" y="2559207"/>
            <a:ext cx="6318985" cy="7010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未找到bdjson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eyJfdGVtcGxhdGVEYXRhIjp7ImxpbmVDb3VudCI6IjEiLCJ3b3JkQ291bnQiOiIxMiJ9LCJ0YWciOiJub0VkaXQifQ==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2400158" y="3871817"/>
            <a:ext cx="7673640" cy="504845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2115571" y="1418214"/>
            <a:ext cx="8242813" cy="21015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ctr">
              <a:lnSpc>
                <a:spcPct val="112000"/>
              </a:lnSpc>
              <a:spcBef>
                <a:spcPts val="375"/>
              </a:spcBef>
            </a:pPr>
            <a:r>
              <a:rPr lang="en-US" sz="5400" b="1">
                <a:solidFill>
                  <a:srgbClr val="FBFD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期末个人学习总结汇报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eyJfdGVtcGxhdGVEYXRhIjp7ImNvbnRlbnRUeXBlIjoiJHRpdGxlIiwibGluZUNvdW50IjoiMiIsIndvcmRDb3VudCI6IjEwIn0sInRhZyI6IiR0aXRsZSJ9</bd:templateData>
          </p:ext>
        </p:extLst>
      </p:sp>
      <p:grpSp>
        <p:nvGrpSpPr>
          <p:cNvPr id="5" name="Group 5"/>
          <p:cNvGrpSpPr/>
          <p:nvPr/>
        </p:nvGrpSpPr>
        <p:grpSpPr>
          <a:xfrm>
            <a:off x="3507564" y="3865291"/>
            <a:ext cx="5458827" cy="517896"/>
            <a:chOff x="3507564" y="3865291"/>
            <a:chExt cx="5458827" cy="517896"/>
          </a:xfrm>
        </p:grpSpPr>
        <p:sp>
          <p:nvSpPr>
            <p:cNvPr id="6" name="TextBox 6"/>
            <p:cNvSpPr txBox="1"/>
            <p:nvPr/>
          </p:nvSpPr>
          <p:spPr>
            <a:xfrm>
              <a:off x="3507564" y="3865291"/>
              <a:ext cx="2227456" cy="517896"/>
            </a:xfrm>
            <a:prstGeom prst="rect">
              <a:avLst/>
            </a:prstGeom>
            <a:ln/>
          </p:spPr>
          <p:txBody>
            <a:bodyPr vert="horz" wrap="square" lIns="91440" tIns="45720" rIns="91440" bIns="45720" rtlCol="0" anchor="ctr" anchorCtr="0">
              <a:normAutofit/>
            </a:bodyPr>
            <a:lstStyle/>
            <a:p>
              <a:pPr algn="ctr" defTabSz="914400">
                <a:lnSpc>
                  <a:spcPct val="120000"/>
                </a:lnSpc>
                <a:spcBef>
                  <a:spcPts val="375"/>
                </a:spcBef>
                <a:defRPr sz="1800">
                  <a:solidFill>
                    <a:schemeClr val="tx1"/>
                  </a:solidFill>
                  <a:latin typeface="等线"/>
                  <a:ea typeface="宋体"/>
                  <a:cs typeface="+mn-cs"/>
                </a:defRPr>
              </a:pPr>
              <a:r>
                <a:rPr lang="en-US" sz="2025">
                  <a:solidFill>
                    <a:srgbClr val="FBFDFD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汇报人：赵子康</a:t>
              </a:r>
            </a:p>
          </p:txBody>
          <p:extLst>
            <p:ext uri="http://schemas.baidu.com/office/drawing/2023/templateData">
              <bd:templateData xmlns:bd="http://schemas.baidu.com/office/drawing/2023/templateData" xmlns="">eyJfdGVtcGxhdGVEYXRhIjp7ImNvbnRlbnRUeXBlIjoiJHJlcG9ydGVyX2F1dGhvciIsImxpbmVDb3VudCI6IjEiLCJ3b3JkQ291bnQiOiI2In19</bd:templateData>
            </p:ext>
          </p:extLst>
        </p:sp>
        <p:sp>
          <p:nvSpPr>
            <p:cNvPr id="7" name="TextBox 7"/>
            <p:cNvSpPr txBox="1"/>
            <p:nvPr/>
          </p:nvSpPr>
          <p:spPr>
            <a:xfrm>
              <a:off x="6707201" y="3873088"/>
              <a:ext cx="2259190" cy="502303"/>
            </a:xfrm>
            <a:prstGeom prst="rect">
              <a:avLst/>
            </a:prstGeom>
            <a:ln/>
          </p:spPr>
          <p:txBody>
            <a:bodyPr vert="horz"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  <a:spcBef>
                  <a:spcPts val="375"/>
                </a:spcBef>
              </a:pPr>
              <a:r>
                <a:rPr lang="en-US" sz="2025" dirty="0">
                  <a:solidFill>
                    <a:srgbClr val="FBFDFD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2025-12-09</a:t>
              </a:r>
            </a:p>
          </p:txBody>
          <p:extLst mod="1">
            <p:ext uri="http://schemas.baidu.com/office/drawing/2023/templateData">
              <bd:templateData xmlns:bd="http://schemas.baidu.com/office/drawing/2023/templateData" xmlns="">eyJfdGVtcGxhdGVEYXRhIjp7ImNvbnRlbnRUeXBlIjoiJERhdGUiLCJsaW5lQ291bnQiOiIxIiwid29yZENvdW50IjoiNyJ9fQ==</bd:templateData>
            </p:ext>
          </p:extLst>
        </p:sp>
      </p:grpSp>
      <p:sp>
        <p:nvSpPr>
          <p:cNvPr id="8" name="AutoShape 8"/>
          <p:cNvSpPr/>
          <p:nvPr/>
        </p:nvSpPr>
        <p:spPr>
          <a:xfrm>
            <a:off x="10073798" y="474213"/>
            <a:ext cx="185110" cy="18511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10380707" y="474213"/>
            <a:ext cx="185110" cy="185110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AutoShape 10"/>
          <p:cNvSpPr/>
          <p:nvPr/>
        </p:nvSpPr>
        <p:spPr>
          <a:xfrm>
            <a:off x="10687616" y="474213"/>
            <a:ext cx="185110" cy="18511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10994525" y="474213"/>
            <a:ext cx="185110" cy="185110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AutoShape 12"/>
          <p:cNvSpPr/>
          <p:nvPr/>
        </p:nvSpPr>
        <p:spPr>
          <a:xfrm>
            <a:off x="5123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3" name="AutoShape 13"/>
          <p:cNvSpPr/>
          <p:nvPr/>
        </p:nvSpPr>
        <p:spPr>
          <a:xfrm>
            <a:off x="7028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AutoShape 14"/>
          <p:cNvSpPr/>
          <p:nvPr/>
        </p:nvSpPr>
        <p:spPr>
          <a:xfrm>
            <a:off x="893345" y="474978"/>
            <a:ext cx="183581" cy="183581"/>
          </a:xfrm>
          <a:prstGeom prst="chevron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eyJtZCI6Iuacn+acq+S4quS6uuWtpuS5oOaAu+e7k+axh+aKpSIsInRwbGlkIjoiOTIiLCJ0cGxOYW1lIjoidGl0bGVfOTJkYXJrYnVzaW5lc3MiLCJlZGl0ZWQiOiJmYWxzZSJ9</bd:templateData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个人介绍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eyJfdGVtcGxhdGVEYXRhIjp7ImNvbnRlbnRUeXBlIjoiJHRpdGxlIiwibGluZUNvdW50IjoiMSIsIndvcmRDb3VudCI6IjEzIn0sInRhZyI6IiR0aXRsZSJ9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eyJtZCI6IiMjIOS4quS6uuS7i+e7jSIsInRwbGlkIjoiOTIiLCJ0cGxOYW1lIjoiaDJ0aXRsZV85MmRhcmtidXNpbmVzcyIsImVkaXRlZCI6ImZhbHNlIn0=</bd:templateData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基本信息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-227" y="1719338"/>
            <a:ext cx="12192000" cy="2034324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4" name="AutoShape 4"/>
          <p:cNvSpPr/>
          <p:nvPr/>
        </p:nvSpPr>
        <p:spPr>
          <a:xfrm>
            <a:off x="529020" y="4865151"/>
            <a:ext cx="3505826" cy="1475883"/>
          </a:xfrm>
          <a:prstGeom prst="roundRect">
            <a:avLst>
              <a:gd name="adj" fmla="val 16667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1873326" y="3350659"/>
            <a:ext cx="817215" cy="81721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Freeform 6"/>
          <p:cNvSpPr/>
          <p:nvPr/>
        </p:nvSpPr>
        <p:spPr>
          <a:xfrm>
            <a:off x="2098764" y="3576098"/>
            <a:ext cx="366338" cy="36633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w="304800" h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w="304800" h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792552" y="4264809"/>
            <a:ext cx="29787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 defTabSz="914400">
              <a:lnSpc>
                <a:spcPct val="10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217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姓名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723582" y="5039353"/>
            <a:ext cx="3116702" cy="1140785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赵子康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eyJfdGVtcGxhdGVEYXRhIjp7ImNvbnRlbnRUeXBlIjoiJGl0ZW0xX2MiLCJsaW5lQ291bnQiOiIzIiwid29yZENvdW50IjoiMTYifSwidGFnIjoiJGl0ZW0xX2MifQ==</bd:templateData>
          </p:ext>
        </p:extLst>
      </p:sp>
      <p:sp>
        <p:nvSpPr>
          <p:cNvPr id="9" name="AutoShape 9"/>
          <p:cNvSpPr/>
          <p:nvPr/>
        </p:nvSpPr>
        <p:spPr>
          <a:xfrm>
            <a:off x="4338324" y="4865151"/>
            <a:ext cx="3505826" cy="1475883"/>
          </a:xfrm>
          <a:prstGeom prst="roundRect">
            <a:avLst>
              <a:gd name="adj" fmla="val 16667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AutoShape 10"/>
          <p:cNvSpPr/>
          <p:nvPr/>
        </p:nvSpPr>
        <p:spPr>
          <a:xfrm>
            <a:off x="5682630" y="3350659"/>
            <a:ext cx="817215" cy="817215"/>
          </a:xfrm>
          <a:prstGeom prst="ellipse">
            <a:avLst/>
          </a:prstGeom>
          <a:solidFill>
            <a:schemeClr val="accent2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4523319" y="4264809"/>
            <a:ext cx="3135837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217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专业与班级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532887" y="5039353"/>
            <a:ext cx="3116702" cy="1140785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食品科学与工程</a:t>
            </a:r>
          </a:p>
          <a:p>
            <a:pPr algn="ctr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24级食科合作一班</a:t>
            </a:r>
          </a:p>
          <a:p>
            <a:pPr algn="ctr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endParaRPr lang="en-US" sz="1350">
              <a:solidFill>
                <a:schemeClr val="dk1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eyJfdGVtcGxhdGVEYXRhIjp7ImNvbnRlbnRUeXBlIjoiJGl0ZW0yX2MiLCJsaW5lQ291bnQiOiIzIiwid29yZENvdW50IjoiMTYifSwidGFnIjoiJGl0ZW0yX2MifQ==</bd:templateData>
          </p:ext>
        </p:extLst>
      </p:sp>
      <p:sp>
        <p:nvSpPr>
          <p:cNvPr id="13" name="AutoShape 13"/>
          <p:cNvSpPr/>
          <p:nvPr/>
        </p:nvSpPr>
        <p:spPr>
          <a:xfrm>
            <a:off x="8157154" y="4865151"/>
            <a:ext cx="3505826" cy="1475883"/>
          </a:xfrm>
          <a:prstGeom prst="roundRect">
            <a:avLst>
              <a:gd name="adj" fmla="val 16667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AutoShape 14"/>
          <p:cNvSpPr/>
          <p:nvPr/>
        </p:nvSpPr>
        <p:spPr>
          <a:xfrm>
            <a:off x="9501460" y="3350659"/>
            <a:ext cx="817215" cy="817215"/>
          </a:xfrm>
          <a:prstGeom prst="ellipse">
            <a:avLst/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5" name="AutoShape 15"/>
          <p:cNvSpPr/>
          <p:nvPr/>
        </p:nvSpPr>
        <p:spPr>
          <a:xfrm>
            <a:off x="8334189" y="4264809"/>
            <a:ext cx="3151755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217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联系方式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8437569" y="5039353"/>
            <a:ext cx="3116702" cy="1140785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1647347898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eyJfdGVtcGxhdGVEYXRhIjp7ImNvbnRlbnRUeXBlIjoiJGl0ZW0zX2MiLCJsaW5lQ291bnQiOiIzIiwid29yZENvdW50IjoiMTYifSwidGFnIjoiJGl0ZW0zX2MifQ==</bd:templateData>
          </p:ext>
        </p:extLst>
      </p:sp>
      <p:sp>
        <p:nvSpPr>
          <p:cNvPr id="17" name="Freeform 17"/>
          <p:cNvSpPr/>
          <p:nvPr/>
        </p:nvSpPr>
        <p:spPr>
          <a:xfrm>
            <a:off x="9700479" y="3563125"/>
            <a:ext cx="423166" cy="42316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180" y="28632"/>
                </a:moveTo>
                <a:lnTo>
                  <a:pt x="19907" y="83468"/>
                </a:lnTo>
                <a:lnTo>
                  <a:pt x="147304" y="137874"/>
                </a:lnTo>
                <a:lnTo>
                  <a:pt x="276015" y="83344"/>
                </a:lnTo>
                <a:lnTo>
                  <a:pt x="147180" y="28632"/>
                </a:lnTo>
                <a:close/>
              </a:path>
              <a:path w="304800" h="304800">
                <a:moveTo>
                  <a:pt x="152400" y="144723"/>
                </a:moveTo>
                <a:lnTo>
                  <a:pt x="152400" y="276168"/>
                </a:lnTo>
                <a:lnTo>
                  <a:pt x="276177" y="217408"/>
                </a:lnTo>
                <a:lnTo>
                  <a:pt x="276177" y="92145"/>
                </a:lnTo>
                <a:lnTo>
                  <a:pt x="152400" y="144723"/>
                </a:lnTo>
                <a:close/>
              </a:path>
              <a:path w="304800" h="304800">
                <a:moveTo>
                  <a:pt x="19098" y="217408"/>
                </a:moveTo>
                <a:lnTo>
                  <a:pt x="143294" y="276168"/>
                </a:lnTo>
                <a:lnTo>
                  <a:pt x="143294" y="144723"/>
                </a:lnTo>
                <a:lnTo>
                  <a:pt x="19098" y="92145"/>
                </a:lnTo>
                <a:lnTo>
                  <a:pt x="19098" y="217408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Freeform 18"/>
          <p:cNvSpPr/>
          <p:nvPr/>
        </p:nvSpPr>
        <p:spPr>
          <a:xfrm>
            <a:off x="5891042" y="3570268"/>
            <a:ext cx="416023" cy="41602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fuuacrOS/oeaBr1xuIyMjIOWnk+WQjeS4juWtpuWPt1xu5piO56Gu5qCH5rOo5Liq5Lq65aeT5ZCN5Y+K5a2m5qCh5YiG6YWN55qE5ZSv5LiA5a2m5Y+377yM56Gu5L+d6Lqr5Lu96K+G5Yir5YeG56Gu5oCn44CCXG4jIyMg5LiT5Lia5LiO54+t57qnXG7or7TmmI7miYDlsZ7pmaLns7vjgIHkuJPkuJrlkI3np7Dlj4rnj63nuqfnvJblj7fvvIzkvZPnjrDlrabmnK/og4zmma/lvZLlsZ7jgIJcbiMjIyDogZTns7vmlrnlvI9cbuaPkOS+m+acieaViOmCrueuseaIlueUteivne+8jOS+v+S6juaVmeWtpuayn+mAmuS4juWPjemmiOOAgiIsInRwbGlkIjoiOTIiLCJ0cGxOYW1lIjoibGlzdDNfMjAyNTA2MjYwNyIsImVkaXRlZCI6ImZhbHNlIn0=</bd:templateData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作业完成情况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eyJfdGVtcGxhdGVEYXRhIjp7ImNvbnRlbnRUeXBlIjoiJHRpdGxlIiwibGluZUNvdW50IjoiMSIsIndvcmRDb3VudCI6IjEzIn0sInRhZyI6IiR0aXRsZSJ9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 defTabSz="914400">
              <a:lnSpc>
                <a:spcPct val="12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eyJtZCI6IiMjIOS9nOS4muWujOaIkOaDheWGtSIsInRwbGlkIjoiOTIiLCJ0cGxOYW1lIjoiaDJ0aXRsZV85MmRhcmtidXNpbmVzcyIsImVkaXRlZCI6ImZhbHNlIn0=</bd:templateData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29610" y="1611840"/>
            <a:ext cx="1905000" cy="405094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568048" y="2170513"/>
            <a:ext cx="6288387" cy="89832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本学期共布置11次作业，按时提交11次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eyJfdGVtcGxhdGVEYXRhIjp7ImNvbnRlbnRUeXBlIjoiJGl0ZW0xX2MiLCJsaW5lQ291bnQiOiIyIiwid29yZENvdW50IjoiMzAifSwidGFnIjoiJGl0ZW0xX2MifQ==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568048" y="1702636"/>
            <a:ext cx="3800986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按时提交率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568048" y="5459662"/>
            <a:ext cx="6288387" cy="89832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所有作业均完成提交，无缺交现象，体现了对课程任务的重视和执行力。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eyJfdGVtcGxhdGVEYXRhIjp7ImNvbnRlbnRUeXBlIjoiJGl0ZW0zX2MiLCJsaW5lQ291bnQiOiIyIiwid29yZENvdW50IjoiMzAifSwidGFnIjoiJGl0ZW0zX2MifQ==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568048" y="5014099"/>
            <a:ext cx="3590416" cy="42240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未提交记录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作业提交次数统计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10" name="AutoShape 10"/>
          <p:cNvSpPr/>
          <p:nvPr/>
        </p:nvSpPr>
        <p:spPr>
          <a:xfrm>
            <a:off x="7429610" y="5662789"/>
            <a:ext cx="1905000" cy="1195211"/>
          </a:xfrm>
          <a:prstGeom prst="rect">
            <a:avLst/>
          </a:prstGeom>
          <a:solidFill>
            <a:schemeClr val="accent1">
              <a:alpha val="17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9675697" y="0"/>
            <a:ext cx="1905000" cy="2353933"/>
          </a:xfrm>
          <a:prstGeom prst="rect">
            <a:avLst/>
          </a:prstGeom>
          <a:solidFill>
            <a:schemeClr val="accent1">
              <a:alpha val="17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675697" y="2353933"/>
            <a:ext cx="1905000" cy="405094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S9nOS4muaPkOS6pOasoeaVsOe7n+iuoVxuIyMjIOaMieaXtuaPkOS6pOeOh1xu5pys5a2m5pyf5YWx5biD572uMTXmrKHkvZzkuJrvvIzmjInml7bmj5DkuqQxM+asoe+8jOaMieaXtuaPkOS6pOeOh+S4ujg2Ljcl77yM5YW25LitMuasoeWboOaXtumXtOeuoeeQhuS4jeW9k+WvvOiHtOW7tui/n++8jOmcgOi/m+S4gOatpeS8mOWMluWtpuS5oOiuoeWIkuOAglxuIyMjIOihpeS6pOaDheWGtVxu5bu26L+f55qEMuasoeS9nOS4muWdh+WcqOaIquatouWQjjPlpKnlhoXooaXkuqTvvIzmnKrlvbHlk43mnIDnu4jor4TliIbvvIzkvYblj43mmKDlh7rlr7nku7vliqHkvJjlhYjnuqfnmoTliKTmlq3pnIDliqDlvLrjgIJcbiMjIyDmnKrmj5DkuqTorrDlvZVcbuaJgOacieS9nOS4muWdh+WujOaIkOaPkOS6pO+8jOaXoOe8uuS6pOeOsOixoe+8jOS9k+eOsOS6huWvueivvueoi+S7u+WKoeeahOmHjeinhuWSjOaJp+ihjOWKm+OAgiIsInRwbGlkIjoiOTIiLCJ0cGxOYW1lIjoibGlzdDNfSW1nMjQwNzA5MDE3IiwiZWRpdGVkIjoiZmFsc2UifQ==</bd:templateData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C语言程序实例分析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eyJfdGVtcGxhdGVEYXRhIjp7ImNvbnRlbnRUeXBlIjoiJHRpdGxlIiwibGluZUNvdW50IjoiMSIsIndvcmRDb3VudCI6IjEzIn0sInRhZyI6IiR0aXRsZSJ9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 defTabSz="914400">
              <a:lnSpc>
                <a:spcPct val="12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eyJtZCI6IiMjIEPor63oqIDnqIvluo/lrp7kvovliIbmnpAiLCJ0cGxpZCI6IjkyIiwidHBsTmFtZSI6ImgydGl0bGVfOTJkYXJrYnVzaW5lc3MiLCJlZGl0ZWQiOiJmYWxzZSJ9</bd:templateData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8633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斐波那契数列的C语言实现与分析：从递归到迭代的优化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5" name="AutoShape 5"/>
          <p:cNvSpPr/>
          <p:nvPr/>
        </p:nvSpPr>
        <p:spPr>
          <a:xfrm>
            <a:off x="6698935" y="1489452"/>
            <a:ext cx="2914650" cy="291465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9780389" y="1489452"/>
            <a:ext cx="1714500" cy="2914650"/>
          </a:xfrm>
          <a:prstGeom prst="rect">
            <a:avLst/>
          </a:prstGeom>
          <a:solidFill>
            <a:schemeClr val="accent2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6698935" y="4585077"/>
            <a:ext cx="2914650" cy="1619250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9780389" y="4585077"/>
            <a:ext cx="1714500" cy="161925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6784660" y="1575177"/>
            <a:ext cx="2743200" cy="27432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/>
          </a:blip>
          <a:srcRect t="15838" b="15838"/>
          <a:stretch>
            <a:fillRect/>
          </a:stretch>
        </p:blipFill>
        <p:spPr>
          <a:xfrm>
            <a:off x="6784660" y="4670802"/>
            <a:ext cx="2743200" cy="14478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/>
          </a:blip>
          <a:srcRect l="31227" r="31227"/>
          <a:stretch>
            <a:fillRect/>
          </a:stretch>
        </p:blipFill>
        <p:spPr>
          <a:xfrm>
            <a:off x="9866114" y="1575177"/>
            <a:ext cx="1543050" cy="27432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12" name="AutoShape 12"/>
          <p:cNvSpPr/>
          <p:nvPr/>
        </p:nvSpPr>
        <p:spPr>
          <a:xfrm>
            <a:off x="9866114" y="4670802"/>
            <a:ext cx="1543050" cy="144780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3" name="Freeform 13"/>
          <p:cNvSpPr/>
          <p:nvPr/>
        </p:nvSpPr>
        <p:spPr>
          <a:xfrm>
            <a:off x="10232888" y="5037575"/>
            <a:ext cx="809504" cy="80950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</a:path>
            </a:pathLst>
          </a:cu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1382164" y="1579985"/>
            <a:ext cx="2088193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斐波那契数列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15" name="AutoShape 15"/>
          <p:cNvSpPr/>
          <p:nvPr/>
        </p:nvSpPr>
        <p:spPr>
          <a:xfrm rot="5400000">
            <a:off x="667791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756538" y="213757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 defTabSz="914400">
              <a:lnSpc>
                <a:spcPct val="114999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斐波那契数列是计算机科学和数学中一个经典的案例，它很好地展示了算法设计中的不同思路及其效率差异。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eyJfdGVtcGxhdGVEYXRhIjp7ImNvbnRlbnRUeXBlIjoiJGl0ZW0xX2MiLCJsaW5lQ291bnQiOiI2Iiwid29yZENvdW50IjoiMTQifSwidGFnIjoiJGl0ZW0xX2MifQ==</bd:templateData>
          </p:ext>
        </p:extLst>
      </p:sp>
      <p:sp>
        <p:nvSpPr>
          <p:cNvPr id="17" name="AutoShape 17"/>
          <p:cNvSpPr/>
          <p:nvPr/>
        </p:nvSpPr>
        <p:spPr>
          <a:xfrm rot="5400000">
            <a:off x="658476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597683" y="157517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9" name="AutoShape 19"/>
          <p:cNvSpPr/>
          <p:nvPr/>
        </p:nvSpPr>
        <p:spPr>
          <a:xfrm>
            <a:off x="3628068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4431599" y="1579985"/>
            <a:ext cx="2037145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斐波那契数列定义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21" name="AutoShape 21"/>
          <p:cNvSpPr/>
          <p:nvPr/>
        </p:nvSpPr>
        <p:spPr>
          <a:xfrm rot="5400000">
            <a:off x="3717225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2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2" name="TextBox 22"/>
          <p:cNvSpPr txBox="1"/>
          <p:nvPr/>
        </p:nvSpPr>
        <p:spPr>
          <a:xfrm>
            <a:off x="3805973" y="213757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 defTabSz="914400">
              <a:lnSpc>
                <a:spcPct val="114999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斐波那契数列是一个序列，其中每个数都是前两个数之和（前两个数通常定义为0和1或1和1）。数学表达式为：
F₀ = 0, F₁ = 1
Fₙ = Fₙ₋₁ + Fₙ₋₂ （对于n ≥ 2）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eyJfdGVtcGxhdGVEYXRhIjp7ImNvbnRlbnRUeXBlIjoiJGl0ZW0yX2MiLCJsaW5lQ291bnQiOiI2Iiwid29yZENvdW50IjoiMTQifSwidGFnIjoiJGl0ZW0yX2MifQ==</bd:templateData>
          </p:ext>
        </p:extLst>
      </p:sp>
      <p:sp>
        <p:nvSpPr>
          <p:cNvPr id="23" name="AutoShape 23"/>
          <p:cNvSpPr/>
          <p:nvPr/>
        </p:nvSpPr>
        <p:spPr>
          <a:xfrm rot="5400000">
            <a:off x="3707910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>
            <a:off x="1382164" y="4024895"/>
            <a:ext cx="2037145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25" name="AutoShape 25"/>
          <p:cNvSpPr/>
          <p:nvPr/>
        </p:nvSpPr>
        <p:spPr>
          <a:xfrm rot="5400000">
            <a:off x="667791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3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6" name="TextBox 26"/>
          <p:cNvSpPr txBox="1"/>
          <p:nvPr/>
        </p:nvSpPr>
        <p:spPr>
          <a:xfrm>
            <a:off x="756538" y="458248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 defTabSz="914400">
              <a:lnSpc>
                <a:spcPct val="114999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给定一个正整数n，编写C语言程序计算第n个斐波那契数。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eyJfdGVtcGxhdGVEYXRhIjp7ImNvbnRlbnRUeXBlIjoiJGl0ZW0zX2MiLCJsaW5lQ291bnQiOiI2Iiwid29yZENvdW50IjoiMTQifSwidGFnIjoiJGl0ZW0zX2MifQ==</bd:templateData>
          </p:ext>
        </p:extLst>
      </p:sp>
      <p:sp>
        <p:nvSpPr>
          <p:cNvPr id="27" name="AutoShape 27"/>
          <p:cNvSpPr/>
          <p:nvPr/>
        </p:nvSpPr>
        <p:spPr>
          <a:xfrm rot="5400000">
            <a:off x="658476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3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3" name="TextBox 33"/>
          <p:cNvSpPr txBox="1"/>
          <p:nvPr/>
        </p:nvSpPr>
        <p:spPr>
          <a:xfrm>
            <a:off x="3647118" y="157517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34" name="TextBox 34"/>
          <p:cNvSpPr txBox="1"/>
          <p:nvPr/>
        </p:nvSpPr>
        <p:spPr>
          <a:xfrm>
            <a:off x="597683" y="402008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mBh+WIsOeahOWbsOmavuS4juino+WGs1xuIyMjIOefpeivhueCueeQhuino+manOeijVxu6YOo5YiG5oq96LGh5qaC5b+177yI5aaC6auY562J5pWw5a2m5Lit55qE5b6u56ev5YiG77yJ6Zq+5Lul5o6M5o+h77yM6YCa6L+H6KeC55yL5ZCN5biI5YWs5byA6K++44CB5Yqg5YWl5a2m5Lmg5bCP57uE6K6o6K6677yM6YCQ5q2l5ouG6Kej6Zeu6aKY5bm25aSa6KeS5bqm55CG6Kej44CCXG4jIyMg5rOo5oSP5Yqb5YiG5pWj6Zeu6aKYXG7plb/ml7bpl7TlrabkuaDmmJPlj5fmiYvmnLrlubLmibDvvIzph4fnlKjnlarojITlt6XkvZzms5XvvIgyNeWIhumSn+S4k+azqCs15YiG6ZKf5LyR5oGv77yJ5bm257uT5ZCIRm9yZXN0562J5LiT5rOoQVBQ77yM5pyJ5pWI5o+Q5Y2H5a2m5Lmg5pWI546H44CCXG4jIyMg6ICD6K+V54Sm6JmR5bqU5a+5XG7mqKHmi5/ogIPor5XlnLrmma/ov5vooYzpmZDml7borq3nu4PvvIzlkIzml7bpgJrov4fmt7HlkbzlkLjlkozmraPlv7XlhqXmg7PnvJPop6PntKflvKDmg4Xnu6rvvIzpgJDmraXpgILlupTpq5jljovnjq/looPjgIJcbiMjIyDlpJrku7vliqHlpITnkIblpLHooaFcbumdouWvueWkmuenkeebruWkjeS5oOaXtuS8mOWFiOe6p+a3t+S5se+8jOS9v+eUqOWbm+ixoemZkOazleWIme+8iOe0p+aApS/ph43opoHnn6npmLXvvInliJLliIbku7vliqHvvIzpm4bkuK3nsr7lipvmlLvlhYvpq5jmnYPph43lhoXlrrnjgIIiLCJ0cGxpZCI6IjkyIiwidHBsTmFtZSI6Imxpc3Q0XzIwMjUwNzAzMTgiLCJlZGl0ZWQiOiJmYWxzZSJ9</bd:templateData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算法设计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4" name="shape" descr="默认shape"/>
          <p:cNvSpPr txBox="1"/>
          <p:nvPr/>
        </p:nvSpPr>
        <p:spPr>
          <a:xfrm>
            <a:off x="250911" y="1218365"/>
            <a:ext cx="11689723" cy="528674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170" tIns="46990" rIns="90170" bIns="46990" anchor="t">
            <a:noAutofit/>
          </a:bodyPr>
          <a:lstStyle/>
          <a:p>
            <a:pPr algn="l"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Noto Sans SC"/>
                <a:ea typeface="Noto Sans SC"/>
                <a:cs typeface="+mn-cs"/>
              </a:defRPr>
            </a:pPr>
            <a:r>
              <a:rPr sz="1200">
                <a:solidFill>
                  <a:srgbClr val="000000"/>
                </a:solidFill>
                <a:latin typeface="Noto Sans SC"/>
                <a:ea typeface="Noto Sans SC"/>
                <a:cs typeface="+mn-cs"/>
              </a:rPr>
              <a:t>迭代算法
   迭代算法算法算法思路：
使用</a:t>
            </a:r>
            <a:r>
              <a:rPr sz="1200">
                <a:solidFill>
                  <a:schemeClr val="dk1">
                    <a:lumMod val="95000"/>
                    <a:lumOff val="5000"/>
                    <a:alpha val="100000"/>
                  </a:schemeClr>
                </a:solidFill>
                <a:latin typeface="Noto Sans SC"/>
                <a:ea typeface="Noto Sans SC"/>
                <a:cs typeface="+mn-cs"/>
              </a:rPr>
              <a:t>
使用循设计思路： 迭代算法环从底部开始计算，逐步累加得到第n个斐波那契数，避免递归的重复计算
伪代码：
function fib(n)
    if n == 0 return 0
    if n == 1 return 1
    a = 0, b = 1
    for i from 2 to n
        c = a + b
        a=b
        b=c 
    return b
复杂度分析：
时间复杂度：O(n) — 只需n次循环
空间复杂度：O(1) — 只需常数个额外空间
优点：效率远高于递归实现，适合计算大数
</a:t>
            </a:r>
          </a:p>
        </p:txBody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XtumXtOeuoeeQhuaKgOW3p1xuIyMjIOWItuWumuS8mOWFiOe6p+a4heWNlVxu5q+P5pel5YiX5Ye6My016aG55qC45b+D5Lu75Yqh5bm25oyJ57Sn5oCl56iL5bqm5o6S5bqP77yM56Gu5L+d5YWz6ZSu55uu5qCH5LyY5YWI5a6M5oiQ77yM6YG/5YWN5L2O5pWI5b+Z56KM44CC5L6L5aaC77yM5L2/55So4oCc5ZCD6Z2S6JuZ5rOV5YiZ4oCd5YWI5aSE55CG5pyA6Zq+5Lu75Yqh44CCXG4jIyMg5Yip55So56KO54mH5pe26Ze0XG7pgJrli6TjgIHmjpLpmJ/nrYnpm7bmlaPml7bpl7Tlj6/nlKjkuo7lkKzor77nqIvlvZXpn7PjgIHog4zljZXor43miJblpI3nm5jnrJTorrDvvIzmnIDlpKfljJbml7bpl7TliKnnlKjnjofjgIJcbiMjIyDlrprmnJ/lpI3nm5josIPmlbRcbuavj+WRqOaAu+e7k+aXtumXtOWIhumFjeaDheWGte+8jOWIhuaekOiAl+aXtui/h+WkmueahOeOr+iKgu+8iOWmguekvuS6pOWqkuS9k++8ie+8jOW5tumSiOWvueaAp+S8mOWMluiuoeWIku+8jOS+i+WmguiuvuWumuKAnOaXoOW5suaJsOaXtuauteKAneS4k+azqOWtpuS5oOOAgiIsInRwbGlkIjoiOTIiLCJ0cGxOYW1lIjoibGlzdDNfMjAyNTA2MjYyNCIsImVkaXRlZCI6ImZhbHNlIn0=</bd:templateData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0" name="image" descr="默认图片"/>
          <p:cNvPicPr/>
          <p:nvPr/>
        </p:nvPicPr>
        <p:blipFill>
          <a:blip r:embed="rId3"/>
          <a:stretch>
            <a:fillRect/>
          </a:stretch>
        </p:blipFill>
        <p:spPr>
          <a:xfrm>
            <a:off x="813747" y="289171"/>
            <a:ext cx="10658743" cy="6086475"/>
          </a:xfrm>
          <a:prstGeom prst="rect">
            <a:avLst/>
          </a:prstGeom>
        </p:spPr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eyJtZCI6IiMjIOacquadpeWtpuS5oOiuoeWIkiIsInRwbGlkIjoiOTIiLCJ0cGxOYW1lIjoiaDJ0aXRsZV85MmRhcmtidXNpbmVzcyIsImVkaXRlZCI6ImZhbHNlIn0=</bd:templateData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buNone/>
              <a:defRPr sz="4400">
                <a:solidFill>
                  <a:schemeClr val="tx1"/>
                </a:solidFill>
                <a:latin typeface="等线 Light"/>
                <a:ea typeface="宋体"/>
                <a:cs typeface="+mj-cs"/>
              </a:defRPr>
            </a:pPr>
            <a:r>
              <a:rPr lang="zh-CN" altLang="en-US" sz="4400">
                <a:solidFill>
                  <a:schemeClr val="tx1"/>
                </a:solidFill>
                <a:latin typeface="等线 Light"/>
                <a:ea typeface="宋体"/>
                <a:cs typeface="+mj-cs"/>
              </a:rPr>
              <a:t>代码分析</a:t>
            </a:r>
            <a:endParaRPr kumimoji="1" lang="zh-CN" altLang="en-US"/>
          </a:p>
        </p:txBody>
      </p:sp>
      <p:sp>
        <p:nvSpPr>
          <p:cNvPr id="3" name="shape" descr="默认shape"/>
          <p:cNvSpPr txBox="1"/>
          <p:nvPr/>
        </p:nvSpPr>
        <p:spPr>
          <a:xfrm>
            <a:off x="645017" y="2141929"/>
            <a:ext cx="6184006" cy="122088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170" tIns="46990" rIns="90170" bIns="46990" anchor="t">
            <a:noAutofit/>
          </a:bodyPr>
          <a:lstStyle/>
          <a:p>
            <a:pPr algn="l"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Noto Sans SC"/>
                <a:ea typeface="Noto Sans SC"/>
                <a:cs typeface="+mn-cs"/>
              </a:defRPr>
            </a:pPr>
            <a:r>
              <a:rPr sz="2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+mn-cs"/>
              </a:rPr>
              <a:t>初始化前两个斐波那契数a=0, b=1
循环从2到n，每次计算下一个数并更新a和b
没有重复计算，效率高</a:t>
            </a:r>
            <a:r>
              <a:rPr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+mn-cs"/>
              </a:rPr>
              <a:t>
优化方案→</a:t>
            </a:r>
          </a:p>
        </p:txBody>
      </p:sp>
      <p:pic>
        <p:nvPicPr>
          <p:cNvPr id="4" name="image" descr="默认图片"/>
          <p:cNvPicPr/>
          <p:nvPr/>
        </p:nvPicPr>
        <p:blipFill>
          <a:blip r:embed="rId2"/>
          <a:stretch>
            <a:fillRect/>
          </a:stretch>
        </p:blipFill>
        <p:spPr>
          <a:xfrm>
            <a:off x="5851569" y="667298"/>
            <a:ext cx="6229887" cy="537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  <p:extLst>
    <p:ext uri="http://schemas.baidu.com/office/drawing/2023/templateData">
      <bd:templateData xmlns:bd="http://schemas.baidu.com/office/drawing/2023/templateData" xmlns="">eyJtZCI6IiMjIOacquadpeWtpuS5oOiuoeWIkiIsInRwbGlkIjoiOTIiLCJ0cGxOYW1lIjoiaDJ0aXRsZV85MmRhcmtidXNpbmVzcyIsImVkaXRlZCI6ImZhbHNlIn0=</bd:templateData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defTabSz="914400">
              <a:lnSpc>
                <a:spcPct val="90000"/>
              </a:lnSpc>
              <a:buNone/>
              <a:defRPr sz="4400">
                <a:solidFill>
                  <a:schemeClr val="tx1"/>
                </a:solidFill>
                <a:latin typeface="等线 Light"/>
                <a:ea typeface="宋体"/>
                <a:cs typeface="+mj-cs"/>
              </a:defRPr>
            </a:pPr>
            <a:r>
              <a:rPr lang="zh-CN" altLang="en-US" sz="4400">
                <a:solidFill>
                  <a:schemeClr val="tx1"/>
                </a:solidFill>
                <a:latin typeface="等线 Light"/>
                <a:ea typeface="宋体"/>
                <a:cs typeface="+mj-cs"/>
              </a:rPr>
              <a:t>运行结果与比较</a:t>
            </a:r>
            <a:endParaRPr kumimoji="1" lang="zh-CN" altLang="en-US"/>
          </a:p>
        </p:txBody>
      </p:sp>
      <p:sp>
        <p:nvSpPr>
          <p:cNvPr id="3" name="shape" descr="默认shape"/>
          <p:cNvSpPr txBox="1"/>
          <p:nvPr/>
        </p:nvSpPr>
        <p:spPr>
          <a:xfrm>
            <a:off x="418563" y="1285004"/>
            <a:ext cx="8534400" cy="3683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170" tIns="46990" rIns="90170" bIns="46990" anchor="t">
            <a:spAutoFit/>
          </a:bodyPr>
          <a:lstStyle/>
          <a:p>
            <a:pPr algn="l"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Noto Sans SC"/>
                <a:ea typeface="Noto Sans SC"/>
                <a:cs typeface="+mn-cs"/>
              </a:defRPr>
            </a:pPr>
            <a:r>
              <a:rPr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+mn-cs"/>
              </a:rPr>
              <a:t>我们分别测试n=10, n=20, n=30时三种实现的运行时间：</a:t>
            </a:r>
          </a:p>
        </p:txBody>
      </p:sp>
      <p:pic>
        <p:nvPicPr>
          <p:cNvPr id="4" name="image" descr="默认图片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981334"/>
            <a:ext cx="104108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  <p:extLst>
    <p:ext uri="http://schemas.baidu.com/office/drawing/2023/templateData">
      <bd:templateData xmlns:bd="http://schemas.baidu.com/office/drawing/2023/templateData" xmlns="">eyJtZCI6IiMjIOacquadpeWtpuS5oOiuoeWIkiIsInRwbGlkIjoiOTIiLCJ0cGxOYW1lIjoiaDJ0aXRsZV85MmRhcmtidXNpbmVzcyIsImVkaXRlZCI6ImZhbHNlIn0=</bd:templateData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8633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结果分析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5" name="AutoShape 5"/>
          <p:cNvSpPr/>
          <p:nvPr/>
        </p:nvSpPr>
        <p:spPr>
          <a:xfrm>
            <a:off x="6698935" y="1489452"/>
            <a:ext cx="2914650" cy="291465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9780389" y="1489452"/>
            <a:ext cx="1714500" cy="2914650"/>
          </a:xfrm>
          <a:prstGeom prst="rect">
            <a:avLst/>
          </a:prstGeom>
          <a:solidFill>
            <a:schemeClr val="accent2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6698935" y="4585077"/>
            <a:ext cx="2914650" cy="1619250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9780389" y="4585077"/>
            <a:ext cx="1714500" cy="161925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6784660" y="1575177"/>
            <a:ext cx="2743200" cy="27432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/>
          </a:blip>
          <a:srcRect t="15838" b="15838"/>
          <a:stretch>
            <a:fillRect/>
          </a:stretch>
        </p:blipFill>
        <p:spPr>
          <a:xfrm>
            <a:off x="6784660" y="4670802"/>
            <a:ext cx="2743200" cy="14478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/>
          </a:blip>
          <a:srcRect l="31227" r="31227"/>
          <a:stretch>
            <a:fillRect/>
          </a:stretch>
        </p:blipFill>
        <p:spPr>
          <a:xfrm>
            <a:off x="9866114" y="1575177"/>
            <a:ext cx="1543050" cy="27432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12" name="AutoShape 12"/>
          <p:cNvSpPr/>
          <p:nvPr/>
        </p:nvSpPr>
        <p:spPr>
          <a:xfrm>
            <a:off x="9866114" y="4670802"/>
            <a:ext cx="1543050" cy="144780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3" name="Freeform 13"/>
          <p:cNvSpPr/>
          <p:nvPr/>
        </p:nvSpPr>
        <p:spPr>
          <a:xfrm>
            <a:off x="10232888" y="5037575"/>
            <a:ext cx="809504" cy="80950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</a:path>
            </a:pathLst>
          </a:cu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5" name="AutoShape 15"/>
          <p:cNvSpPr/>
          <p:nvPr/>
        </p:nvSpPr>
        <p:spPr>
          <a:xfrm rot="5400000">
            <a:off x="667791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756538" y="213757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 defTabSz="914400">
              <a:lnSpc>
                <a:spcPct val="114999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递归实现在n较小时尚可，但n增大时时间呈指数级增长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eyJfdGVtcGxhdGVEYXRhIjp7ImNvbnRlbnRUeXBlIjoiJGl0ZW0xX2MiLCJsaW5lQ291bnQiOiI2Iiwid29yZENvdW50IjoiMTQifSwidGFnIjoiJGl0ZW0xX2MifQ==</bd:templateData>
          </p:ext>
        </p:extLst>
      </p:sp>
      <p:sp>
        <p:nvSpPr>
          <p:cNvPr id="17" name="AutoShape 17"/>
          <p:cNvSpPr/>
          <p:nvPr/>
        </p:nvSpPr>
        <p:spPr>
          <a:xfrm rot="5400000">
            <a:off x="658476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597683" y="157517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9" name="AutoShape 19"/>
          <p:cNvSpPr/>
          <p:nvPr/>
        </p:nvSpPr>
        <p:spPr>
          <a:xfrm>
            <a:off x="3628068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1" name="AutoShape 21"/>
          <p:cNvSpPr/>
          <p:nvPr/>
        </p:nvSpPr>
        <p:spPr>
          <a:xfrm rot="5400000">
            <a:off x="3717225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2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2" name="TextBox 22"/>
          <p:cNvSpPr txBox="1"/>
          <p:nvPr/>
        </p:nvSpPr>
        <p:spPr>
          <a:xfrm>
            <a:off x="3805973" y="213757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 defTabSz="914400">
              <a:lnSpc>
                <a:spcPct val="114999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迭代和缓存递归实现即使在大n值时也能保持高效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eyJfdGVtcGxhdGVEYXRhIjp7ImNvbnRlbnRUeXBlIjoiJGl0ZW0yX2MiLCJsaW5lQ291bnQiOiI2Iiwid29yZENvdW50IjoiMTQifSwidGFnIjoiJGl0ZW0yX2MifQ==</bd:templateData>
          </p:ext>
        </p:extLst>
      </p:sp>
      <p:sp>
        <p:nvSpPr>
          <p:cNvPr id="23" name="AutoShape 23"/>
          <p:cNvSpPr/>
          <p:nvPr/>
        </p:nvSpPr>
        <p:spPr>
          <a:xfrm rot="5400000">
            <a:off x="3707910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5" name="AutoShape 25"/>
          <p:cNvSpPr/>
          <p:nvPr/>
        </p:nvSpPr>
        <p:spPr>
          <a:xfrm rot="5400000">
            <a:off x="667791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3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6" name="TextBox 26"/>
          <p:cNvSpPr txBox="1"/>
          <p:nvPr/>
        </p:nvSpPr>
        <p:spPr>
          <a:xfrm>
            <a:off x="756538" y="458248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 defTabSz="914400">
              <a:lnSpc>
                <a:spcPct val="114999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迭代实现空间效率最优（O(1)）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eyJfdGVtcGxhdGVEYXRhIjp7ImNvbnRlbnRUeXBlIjoiJGl0ZW0zX2MiLCJsaW5lQ291bnQiOiI2Iiwid29yZENvdW50IjoiMTQifSwidGFnIjoiJGl0ZW0zX2MifQ==</bd:templateData>
          </p:ext>
        </p:extLst>
      </p:sp>
      <p:sp>
        <p:nvSpPr>
          <p:cNvPr id="27" name="AutoShape 27"/>
          <p:cNvSpPr/>
          <p:nvPr/>
        </p:nvSpPr>
        <p:spPr>
          <a:xfrm rot="5400000">
            <a:off x="658476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3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3" name="TextBox 33"/>
          <p:cNvSpPr txBox="1"/>
          <p:nvPr/>
        </p:nvSpPr>
        <p:spPr>
          <a:xfrm>
            <a:off x="3647118" y="157517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34" name="TextBox 34"/>
          <p:cNvSpPr txBox="1"/>
          <p:nvPr/>
        </p:nvSpPr>
        <p:spPr>
          <a:xfrm>
            <a:off x="597683" y="402008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mBh+WIsOeahOWbsOmavuS4juino+WGs1xuIyMjIOefpeivhueCueeQhuino+manOeijVxu6YOo5YiG5oq96LGh5qaC5b+177yI5aaC6auY562J5pWw5a2m5Lit55qE5b6u56ev5YiG77yJ6Zq+5Lul5o6M5o+h77yM6YCa6L+H6KeC55yL5ZCN5biI5YWs5byA6K++44CB5Yqg5YWl5a2m5Lmg5bCP57uE6K6o6K6677yM6YCQ5q2l5ouG6Kej6Zeu6aKY5bm25aSa6KeS5bqm55CG6Kej44CCXG4jIyMg5rOo5oSP5Yqb5YiG5pWj6Zeu6aKYXG7plb/ml7bpl7TlrabkuaDmmJPlj5fmiYvmnLrlubLmibDvvIzph4fnlKjnlarojITlt6XkvZzms5XvvIgyNeWIhumSn+S4k+azqCs15YiG6ZKf5LyR5oGv77yJ5bm257uT5ZCIRm9yZXN0562J5LiT5rOoQVBQ77yM5pyJ5pWI5o+Q5Y2H5a2m5Lmg5pWI546H44CCXG4jIyMg6ICD6K+V54Sm6JmR5bqU5a+5XG7mqKHmi5/ogIPor5XlnLrmma/ov5vooYzpmZDml7borq3nu4PvvIzlkIzml7bpgJrov4fmt7HlkbzlkLjlkozmraPlv7XlhqXmg7PnvJPop6PntKflvKDmg4Xnu6rvvIzpgJDmraXpgILlupTpq5jljovnjq/looPjgIJcbiMjIyDlpJrku7vliqHlpITnkIblpLHooaFcbumdouWvueWkmuenkeebruWkjeS5oOaXtuS8mOWFiOe6p+a3t+S5se+8jOS9v+eUqOWbm+ixoemZkOazleWIme+8iOe0p+aApS/ph43opoHnn6npmLXvvInliJLliIbku7vliqHvvIzpm4bkuK3nsr7lipvmlLvlhYvpq5jmnYPph43lhoXlrrnjgIIiLCJ0cGxpZCI6IjkyIiwidHBsTmFtZSI6Imxpc3Q0XzIwMjUwNzAzMTgiLCJlZGl0ZWQiOiJmYWxzZSJ9</bd:templateData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1015" y="3921593"/>
            <a:ext cx="9809970" cy="155974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1517472" y="4119595"/>
            <a:ext cx="9157056" cy="11637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 defTabSz="914400">
              <a:lnSpc>
                <a:spcPct val="12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495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扩展讨论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eyJfdGVtcGxhdGVEYXRhIjp7ImNvbnRlbnRUeXBlIjoiJHRpdGxlIiwibGluZUNvdW50IjoiMSIsIndvcmRDb3VudCI6IjEzIn0sInRhZyI6IiR0aXRsZSJ9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489235" y="1331454"/>
            <a:ext cx="3213530" cy="1775887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 defTabSz="914400">
              <a:lnSpc>
                <a:spcPct val="12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8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grpSp>
        <p:nvGrpSpPr>
          <p:cNvPr id="5" name="Group 5"/>
          <p:cNvGrpSpPr/>
          <p:nvPr/>
        </p:nvGrpSpPr>
        <p:grpSpPr>
          <a:xfrm rot="-10800000">
            <a:off x="7752111" y="1331454"/>
            <a:ext cx="451710" cy="665399"/>
            <a:chOff x="7752111" y="1331454"/>
            <a:chExt cx="451710" cy="665399"/>
          </a:xfrm>
          <a:solidFill>
            <a:schemeClr val="accent1">
              <a:alpha val="100000"/>
            </a:schemeClr>
          </a:solidFill>
        </p:grpSpPr>
        <p:sp>
          <p:nvSpPr>
            <p:cNvPr id="6" name="AutoShape 6"/>
            <p:cNvSpPr/>
            <p:nvPr/>
          </p:nvSpPr>
          <p:spPr>
            <a:xfrm>
              <a:off x="7752111" y="1331454"/>
              <a:ext cx="260686" cy="530495"/>
            </a:xfrm>
            <a:prstGeom prst="rect">
              <a:avLst/>
            </a:prstGeom>
            <a:grpFill/>
            <a:ln/>
          </p:spPr>
        </p:sp>
        <p:sp>
          <p:nvSpPr>
            <p:cNvPr id="7" name="AutoShape 7"/>
            <p:cNvSpPr/>
            <p:nvPr/>
          </p:nvSpPr>
          <p:spPr>
            <a:xfrm rot="5400000">
              <a:off x="7943135" y="1466358"/>
              <a:ext cx="260686" cy="530495"/>
            </a:xfrm>
            <a:prstGeom prst="rect">
              <a:avLst/>
            </a:prstGeom>
            <a:grpFill/>
            <a:ln/>
          </p:spPr>
        </p:sp>
      </p:grpSp>
      <p:sp>
        <p:nvSpPr>
          <p:cNvPr id="8" name="AutoShape 8"/>
          <p:cNvSpPr/>
          <p:nvPr/>
        </p:nvSpPr>
        <p:spPr>
          <a:xfrm>
            <a:off x="3853275" y="2549673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5400000">
            <a:off x="4044298" y="2684577"/>
            <a:ext cx="260686" cy="530495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eyJtZCI6IiMjIEPor63oqIDnqIvluo/lrp7kvovliIbmnpAiLCJ0cGxpZCI6IjkyIiwidHBsTmFtZSI6ImgydGl0bGVfOTJkYXJrYnVzaW5lc3MiLCJlZGl0ZWQiOiJmYWxzZSJ9</bd:templateData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29610" y="1611840"/>
            <a:ext cx="1905000" cy="405094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463959" y="1547299"/>
            <a:ext cx="6288387" cy="89832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利用斐波那契数列的矩阵表示法，可将时间复杂度降至O(log n)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eyJfdGVtcGxhdGVEYXRhIjp7ImNvbnRlbnRUeXBlIjoiJGl0ZW0xX2MiLCJsaW5lQ291bnQiOiIyIiwid29yZENvdW50IjoiMzAifSwidGFnIjoiJGl0ZW0xX2MifQ==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568048" y="1097329"/>
            <a:ext cx="3800986" cy="44997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 algn="l" defTabSz="914400">
              <a:lnSpc>
                <a:spcPct val="77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矩阵幂方法：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其他优化方法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10" name="AutoShape 10"/>
          <p:cNvSpPr/>
          <p:nvPr/>
        </p:nvSpPr>
        <p:spPr>
          <a:xfrm>
            <a:off x="7429610" y="5662789"/>
            <a:ext cx="1905000" cy="1195211"/>
          </a:xfrm>
          <a:prstGeom prst="rect">
            <a:avLst/>
          </a:prstGeom>
          <a:solidFill>
            <a:schemeClr val="accent1">
              <a:alpha val="17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9675697" y="0"/>
            <a:ext cx="1905000" cy="2353933"/>
          </a:xfrm>
          <a:prstGeom prst="rect">
            <a:avLst/>
          </a:prstGeom>
          <a:solidFill>
            <a:schemeClr val="accent1">
              <a:alpha val="17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675697" y="2353933"/>
            <a:ext cx="1905000" cy="405094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pic>
        <p:nvPicPr>
          <p:cNvPr id="13" name="image" descr="默认图片"/>
          <p:cNvPicPr/>
          <p:nvPr/>
        </p:nvPicPr>
        <p:blipFill>
          <a:blip r:embed="rId5"/>
          <a:stretch>
            <a:fillRect/>
          </a:stretch>
        </p:blipFill>
        <p:spPr>
          <a:xfrm>
            <a:off x="617918" y="1996461"/>
            <a:ext cx="5858119" cy="4528132"/>
          </a:xfrm>
          <a:prstGeom prst="rect">
            <a:avLst/>
          </a:prstGeom>
        </p:spPr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S9nOS4muaPkOS6pOasoeaVsOe7n+iuoVxuIyMjIOaMieaXtuaPkOS6pOeOh1xu5pys5a2m5pyf5YWx5biD572uMTXmrKHkvZzkuJrvvIzmjInml7bmj5DkuqQxM+asoe+8jOaMieaXtuaPkOS6pOeOh+S4ujg2Ljcl77yM5YW25LitMuasoeWboOaXtumXtOeuoeeQhuS4jeW9k+WvvOiHtOW7tui/n++8jOmcgOi/m+S4gOatpeS8mOWMluWtpuS5oOiuoeWIkuOAglxuIyMjIOihpeS6pOaDheWGtVxu5bu26L+f55qEMuasoeS9nOS4muWdh+WcqOaIquatouWQjjPlpKnlhoXooaXkuqTvvIzmnKrlvbHlk43mnIDnu4jor4TliIbvvIzkvYblj43mmKDlh7rlr7nku7vliqHkvJjlhYjnuqfnmoTliKTmlq3pnIDliqDlvLrjgIJcbiMjIyDmnKrmj5DkuqTorrDlvZVcbuaJgOacieS9nOS4muWdh+WujOaIkOaPkOS6pO+8jOaXoOe8uuS6pOeOsOixoe+8jOS9k+eOsOS6huWvueivvueoi+S7u+WKoeeahOmHjeinhuWSjOaJp+ihjOWKm+OAgiIsInRwbGlkIjoiOTIiLCJ0cGxOYW1lIjoibGlzdDNfSW1nMjQwNzA5MDE3IiwiZWRpdGVkIjoiZmFsc2UifQ==</bd:templateData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798804" y="2875083"/>
            <a:ext cx="190500" cy="136829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2174865" y="2875084"/>
            <a:ext cx="190500" cy="1368298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2133600" y="2478145"/>
            <a:ext cx="7924800" cy="21621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725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THANKS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eyJfdGVtcGxhdGVEYXRhIjp7ImNvbnRlbnRUeXBlIjoiJGVuZGluZ18xIiwibGluZUNvdW50IjoiMSIsIndvcmRDb3VudCI6IjQifSwidGFnIjoibm9FZGl0In0=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eyJtZCI6IiIsInRwbGlkIjoiOTIiLCJ0cGxOYW1lIjoiZW5kXzkyZGFya2J1c2luZXNzIiwiZWRpdGVkIjoiZmFsc2UifQ==</bd:templateData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F1F6FF"/>
      </a:dk1>
      <a:lt1>
        <a:srgbClr val="01121A"/>
      </a:lt1>
      <a:dk2>
        <a:srgbClr val="01E2FD"/>
      </a:dk2>
      <a:lt2>
        <a:srgbClr val="022A2F"/>
      </a:lt2>
      <a:accent1>
        <a:srgbClr val="43CADB"/>
      </a:accent1>
      <a:accent2>
        <a:srgbClr val="43CADB"/>
      </a:accent2>
      <a:accent3>
        <a:srgbClr val="16A4DD"/>
      </a:accent3>
      <a:accent4>
        <a:srgbClr val="2CB1E1"/>
      </a:accent4>
      <a:accent5>
        <a:srgbClr val="38BEAD"/>
      </a:accent5>
      <a:accent6>
        <a:srgbClr val="13ADC0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宽屏</PresentationFormat>
  <Paragraphs>52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SC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代码分析</vt:lpstr>
      <vt:lpstr>运行结果与比较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赵 子康</cp:lastModifiedBy>
  <cp:revision>3</cp:revision>
  <dcterms:created xsi:type="dcterms:W3CDTF">2025-10-20T11:38:53Z</dcterms:created>
  <dcterms:modified xsi:type="dcterms:W3CDTF">2025-12-09T04:41:24Z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0cfddcb4457567bb86e332e227eb6aaa_1765198855_c4496abba09be48e269e28da9a890f72","ReservedCode1":"c3d3b7c524cc51a778e23c5a494070598a65aa8d50cac72fe543898e159b911f","ContentPropagator":"001191110000802100433B10001","PropagateID":"0cfddcb4457567bb86e332e227eb6aaa_1765198855_c4496abba09be48e269e28da9a890f72","ReservedCode2":"c3d3b7c524cc51a778e23c5a494070598a65aa8d50cac72fe543898e159b911f"}</vt:lpwstr>
  </property>
</Properties>
</file>